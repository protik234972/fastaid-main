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6400" b="1">
                <a:solidFill>
                  <a:srgbClr val="FFFFFF"/>
                </a:solidFill>
                <a:latin typeface="Arial"/>
              </a:rPr>
              <a:t>FastAid</a:t>
            </a:r>
          </a:p>
          <a:p>
            <a:pPr algn="ctr"/>
            <a:r>
              <a:rPr sz="2400" b="1">
                <a:solidFill>
                  <a:srgbClr val="00B0FF"/>
                </a:solidFill>
                <a:latin typeface="Arial"/>
              </a:rPr>
              <a:t>A First Responder Volunteer Network with Real-Time GPS Dispatch</a:t>
            </a:r>
            <a:br/>
            <a:r>
              <a:t>and AI Medical Analysis for High-Density Urban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Elora Sharmin Khan (ID: 2231368)</a:t>
            </a:r>
            <a:br/>
            <a:r>
              <a:t>Supervisor: Md. Abu Sayed</a:t>
            </a:r>
            <a:br/>
            <a:r>
              <a:t>August 19, 2026</a:t>
            </a:r>
            <a:br/>
            <a:r>
              <a:t>Software Requirements Specification (v2.0)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The Problem: Urban Emergency Failures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Traffic Congestion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Ambulances blocked by gridlock.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Arrival times exceed 15 mins.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Golden Hour window often lost.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32004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Lack of Immediate Care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Bystanders lack medical training.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Hesitation and panic at the scene.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No immediate CPR or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32004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Information Asymmetry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No context on victim's injuries.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Unaware of pre-existing conditions.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Responders arrive blindly.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Motivation: The 'Preparedness Gap'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80%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Victims report ambulance wait times exceeding 15 minutes in urban zones.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100%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Medical volunteers are willing to respond locally if properly notified.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100%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Volunteers demand injury context before arriving (The Preparedness Gap).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60%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Respondents experience flaky 4G internet, requiring SMS fallbacks.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Research &amp; Requirements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457200" y="2743200"/>
            <a:ext cx="2743200" cy="1828800"/>
          </a:xfrm>
          <a:prstGeom prst="hexag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1. Literature Review</a:t>
            </a:r>
            <a:br/>
            <a:r>
              <a:t>(10 Academic Papers)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3429000"/>
            <a:ext cx="36576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3383280" y="2743200"/>
            <a:ext cx="2743200" cy="1828800"/>
          </a:xfrm>
          <a:prstGeom prst="hexag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2. User Fieldwork</a:t>
            </a:r>
            <a:br/>
            <a:r>
              <a:t>(Paramedics &amp; Victims)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3429000"/>
            <a:ext cx="36576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6309360" y="2743200"/>
            <a:ext cx="2743200" cy="1828800"/>
          </a:xfrm>
          <a:prstGeom prst="hexag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3. Problem Analysis</a:t>
            </a:r>
            <a:br/>
            <a:r>
              <a:t>(The Preparedness Gap)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52560" y="3429000"/>
            <a:ext cx="36576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2743200"/>
            <a:ext cx="2743200" cy="1828800"/>
          </a:xfrm>
          <a:prstGeom prst="hexag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4. System Requirements</a:t>
            </a:r>
            <a:br/>
            <a:r>
              <a:t>(SRS v2.0)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The FastAid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Victim Request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743200"/>
            <a:ext cx="45720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3931920" cy="228600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r>
              <a:rPr sz="2200" b="1">
                <a:solidFill>
                  <a:srgbClr val="FFFFFF"/>
                </a:solidFill>
                <a:latin typeface="Arial"/>
              </a:rPr>
              <a:t>FastAid Platform</a:t>
            </a:r>
            <a:br/>
            <a:r>
              <a:t>(AI + Geospatial Matching)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046720" y="2743200"/>
            <a:ext cx="45720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2860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Verified Volunteer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572000"/>
            <a:ext cx="9445752" cy="1371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Key Capabilities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Auto-GPS Capture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AI Severity Analysis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Live Socket.IO Tracking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Web-Push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Core System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Objective 1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Ultra-Fast Dispatch: Bypass traffic via hyper-local pedestrian/light-vehicle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103601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Objective 2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Situational Awareness: Provide volunteers with AI-parsed injury context en 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103601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Objective 3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Live Reassurance: Reduce victim anxiety via real-time WebSocket GPS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20640"/>
            <a:ext cx="103601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Objective 4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Guaranteed Alerting: Ensure 100% notification delivery via Web-Push and SMS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System Boundary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754880" cy="4114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IN SCOPE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Role-Based Access Control (RBAC)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Auto-GPS Location Detection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AI Analysis of Emergency Text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Geospatial Matching ($geoNear)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Real-Time Socket.IO Tracking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Bkash / Nagad MFS Integration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Web-Push &amp; SMS Fallbacks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Volunteer Credential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754880" cy="4114800"/>
          </a:xfrm>
          <a:prstGeom prst="roundRect">
            <a:avLst/>
          </a:prstGeom>
          <a:solidFill>
            <a:srgbClr val="FFEBEE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OUT OF SCOPE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Centralized Ambulance Dispatch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Card-Based Payment Gateways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Post-Emergency Rating &amp; Feedback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Long-term Medical Record EHR Storage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Email-based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System Architecture (4-Layer Design)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667512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1. Presentation Layer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Mobile UI, Leaflet Maps, HTML5 Geolocation API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43600" y="2468880"/>
            <a:ext cx="274320" cy="2743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2743200"/>
            <a:ext cx="667512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2. Application Layer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Node.js / Express, Socket.IO Server, Push Notifications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3840480"/>
            <a:ext cx="274320" cy="2743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4114800"/>
            <a:ext cx="667512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3. AI Engine Layer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External LLM API integration for Severity parsing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5212080"/>
            <a:ext cx="274320" cy="2743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5486400"/>
            <a:ext cx="667512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4. Data Layer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MongoDB, Mongoose, 2dsphere Indexes, Atomic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Primary Actors &amp;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474720" cy="3657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Victim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Register Medical Profile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Press Emergency Button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Share Auto-GPS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Track Approaching Volunteer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Cancel Accidental Alarm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286000"/>
            <a:ext cx="3474720" cy="3657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Verified Volunteer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Upload Medical Certs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Toggle Availability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Receive Match Push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Accept Atomic Lock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Stream Live GPS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286000"/>
            <a:ext cx="3474720" cy="3657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Administrator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Verify Certifications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Manage 5-State User Lifecycle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Monitor $geoNear Latency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Review Audit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Emergency Dispatch Lifecycle (6 States)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457200" y="3200400"/>
            <a:ext cx="2011680" cy="1371600"/>
          </a:xfrm>
          <a:prstGeom prst="chevr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1. Capture</a:t>
            </a:r>
            <a:br/>
            <a:r>
              <a:t>GPS</a:t>
            </a:r>
          </a:p>
        </p:txBody>
      </p:sp>
      <p:sp>
        <p:nvSpPr>
          <p:cNvPr id="5" name="Chevron 4"/>
          <p:cNvSpPr/>
          <p:nvPr/>
        </p:nvSpPr>
        <p:spPr>
          <a:xfrm>
            <a:off x="2331720" y="3200400"/>
            <a:ext cx="2011680" cy="1371600"/>
          </a:xfrm>
          <a:prstGeom prst="chevr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2. Pending</a:t>
            </a:r>
            <a:br/>
            <a:r>
              <a:t>(Create)</a:t>
            </a:r>
          </a:p>
        </p:txBody>
      </p:sp>
      <p:sp>
        <p:nvSpPr>
          <p:cNvPr id="6" name="Chevron 5"/>
          <p:cNvSpPr/>
          <p:nvPr/>
        </p:nvSpPr>
        <p:spPr>
          <a:xfrm>
            <a:off x="4206240" y="3200400"/>
            <a:ext cx="2011680" cy="1371600"/>
          </a:xfrm>
          <a:prstGeom prst="chevr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3. Matching</a:t>
            </a:r>
            <a:br/>
            <a:r>
              <a:t>($geoNear)</a:t>
            </a:r>
          </a:p>
        </p:txBody>
      </p:sp>
      <p:sp>
        <p:nvSpPr>
          <p:cNvPr id="7" name="Chevron 6"/>
          <p:cNvSpPr/>
          <p:nvPr/>
        </p:nvSpPr>
        <p:spPr>
          <a:xfrm>
            <a:off x="6080759" y="3200400"/>
            <a:ext cx="2011680" cy="1371600"/>
          </a:xfrm>
          <a:prstGeom prst="chevr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4. Assigned</a:t>
            </a:r>
            <a:br/>
            <a:r>
              <a:t>(Accept Lock)</a:t>
            </a:r>
          </a:p>
        </p:txBody>
      </p:sp>
      <p:sp>
        <p:nvSpPr>
          <p:cNvPr id="8" name="Chevron 7"/>
          <p:cNvSpPr/>
          <p:nvPr/>
        </p:nvSpPr>
        <p:spPr>
          <a:xfrm>
            <a:off x="7955279" y="3200400"/>
            <a:ext cx="2011680" cy="1371600"/>
          </a:xfrm>
          <a:prstGeom prst="chevr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5. On The Way</a:t>
            </a:r>
            <a:br/>
            <a:r>
              <a:t>(Socket.IO)</a:t>
            </a:r>
          </a:p>
        </p:txBody>
      </p:sp>
      <p:sp>
        <p:nvSpPr>
          <p:cNvPr id="9" name="Chevron 8"/>
          <p:cNvSpPr/>
          <p:nvPr/>
        </p:nvSpPr>
        <p:spPr>
          <a:xfrm>
            <a:off x="9829800" y="3200400"/>
            <a:ext cx="2011680" cy="1371600"/>
          </a:xfrm>
          <a:prstGeom prst="chevr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6. Help Arrived</a:t>
            </a:r>
            <a:br/>
            <a:r>
              <a:t>(Closed)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AI Emergency Analysis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Input (Panic Text)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'He fell off his bike, head bleeding heavily, not moving.'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514600"/>
            <a:ext cx="45720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4572000" y="1828800"/>
            <a:ext cx="3017520" cy="1828800"/>
          </a:xfrm>
          <a:prstGeom prst="hexagon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Async LLM</a:t>
            </a:r>
          </a:p>
          <a:p>
            <a:r>
              <a:t>Service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89520" y="2514600"/>
            <a:ext cx="45720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00400" cy="45720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Structured JSON Output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Severity: CRITICAL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Key Injuries: Head Trauma, Bleeding, Unconscious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Responder Advice: Bring gauze, prepare for C-spine immobilization.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Victim Advice: Do not move his neck, apply pressure to the wound.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Geospatial Matching &amp;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1. Matching ($geoNear)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5km Radius search in MongoDB.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Filters out 'Unverified' or 'Offline' users.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Sorts dynamically using distanceScore (60%) and reliabilityScore (40%).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Atomic transactional lock on 'acceptEmergency' prevents double-booking.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2. Live Tracking (Socket.IO)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Sub-100ms latency coordinate streaming.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Volunteer's GPS broadcasts to Express.js server.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Emitted directly to Victim's active Leaflet map.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Relieves immense psychological anxiety.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Fail-Safe Notification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9144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Goal: Bypass urban dead-zones and network dropouts.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004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Web-Push Notification (VAPID)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3429000"/>
            <a:ext cx="91440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&gt; 2000ms</a:t>
            </a:r>
          </a:p>
        </p:txBody>
      </p:sp>
      <p:sp>
        <p:nvSpPr>
          <p:cNvPr id="7" name="Diamond 6"/>
          <p:cNvSpPr/>
          <p:nvPr/>
        </p:nvSpPr>
        <p:spPr>
          <a:xfrm>
            <a:off x="5029200" y="2743200"/>
            <a:ext cx="2286000" cy="18288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Delivery Timeout?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15200" y="3429000"/>
            <a:ext cx="73152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00400"/>
            <a:ext cx="2743200" cy="914400"/>
          </a:xfrm>
          <a:prstGeom prst="roundRect">
            <a:avLst/>
          </a:prstGeom>
          <a:solidFill>
            <a:srgbClr val="D5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Trigger SMS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Security &amp; Verification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Role-Based Access Control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Enforced middleware. Routes restricted by Victim, Volunteer, or Admin privileges.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02920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System Protections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Bcrypt Password Hashing.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Rate Limiting: Max 5 emergency requests per 15 mins.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51560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Volunteer Verification Lifecycle (5-State)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Unverified -&gt; Pending -&gt; Verified -&gt; Rejected -&gt; Suspended.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Strictly enforced by Mongoose Schema enum.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Only 'Verified' users are included in geospatial matching.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Key 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Emergency &amp; AI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FR-05: Auto-GPS Request Capture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FR-06: AI Emergency Analysis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FR-07: Emergency Cancellation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FR-15: Status Lifecycle State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Dispatch &amp; Tracking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FR-08: Responder Geospatial Matching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FR-09: Live WebSocket GPS Streaming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Users &amp; Security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FR-01: Registration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FR-04: Role-Based Access Control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FR-13: Volunteer Verification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FR-14: Audit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Notifications &amp; Payments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FR-10: Payment Integration (Bkash)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FR-11: Payment Status Tracking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FR-16: Push Subscription Fallbacks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Non-Functional Requirements (Metrics)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Performance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NFR-01: Process matching within 3000ms.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NFR-02: Web-Push timeout strictly 2000ms.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NFR-03: FCP load under 3.0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02920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Reliability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NFR-04: Atomic db locks prevent double-booking.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NFR-05: Data persistent across server reboots.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5029200" cy="22860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Security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NFR-07: Passwords hashed securely.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NFR-08: Admin route 403 enforcement.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NFR-09: Rate limiting on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5029200" cy="22860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Usability &amp; Efficiency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NFR-11: High contrast 44x44px panic touch targets.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NFR-13: Smooth Leaflet Socket.IO panning.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NFR-14: Mobile payload &lt; 500KB.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Key Technical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411480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FFFFFF"/>
                </a:solidFill>
                <a:latin typeface="Arial"/>
              </a:rPr>
              <a:t>What makes this system technically meaningful?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• Hyperlocal Dispatch Algorithm: Combines proximity ($geoNear) with historical reliability scoring to optimize dispatch latency.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• AI-Assisted Context: Translates frantic text into structured severity schemas, bridging the 'Preparedness Gap'.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• Fail-Safe Communications: Dual-layer Web-Push / SMS architecture guarantees alerts in urban dead-zones.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• Atomic State Machine: Robust MongoDB session locks guarantee zero double-bookings in a concurrent event-driven environment.</a:t>
            </a:r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• Real-Time Spatial Syncing: Efficient Socket.IO implementation bypassing standard HTTP polling overhead for GPS streams.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System Risks &amp; Technical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371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Risk 1: GPS Inaccuracies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Impact: Urban canyons distort HTML5 locations, dispatching to wrong block.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Mitigation: Enforced schema float validation; future Wi-Fi triangulation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10332720" cy="1371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Risk 2: Unqualified Responders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Impact: Malicious actors exacerbating injuries.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Mitigation: Strict 5-state Admin Verification lifecycle blocks geospatial indexing.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20640"/>
            <a:ext cx="10332720" cy="1188720"/>
          </a:xfrm>
          <a:prstGeom prst="roundRect">
            <a:avLst/>
          </a:prstGeom>
          <a:solidFill>
            <a:srgbClr val="FFEBEE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Limitation: Mock Auth in Production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Issue: Currently utilizes 'x-demo-role' headers for testing.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Action: Must be replaced with JWT or session-based auth before real-world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Current Implementation (Version 2.0)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15+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Functional Requirements Fully Implemented &amp; Traceable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2004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3000ms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Max Latency on Spatial Volunteer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2004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100%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Elimination of Double-Booking via DB 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D47A1"/>
                </a:solidFill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00B0FF"/>
          </a:solidFill>
          <a:ln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371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The Problem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Ambulances cannot reach urban victims within the 'Golden Hour' due to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10332720" cy="1371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The FastAid Solution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 real-time, AI-assisted crowdsourced platform that dispatches hyper-local verified volunteers via WebSockets and Auto-GPS.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10332720" cy="137160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r>
              <a:rPr sz="2000" b="1">
                <a:solidFill>
                  <a:srgbClr val="0D47A1"/>
                </a:solidFill>
                <a:latin typeface="Arial"/>
              </a:rPr>
              <a:t>The Result</a:t>
            </a:r>
          </a:p>
          <a:p>
            <a:r>
              <a:rPr sz="1600" b="0">
                <a:solidFill>
                  <a:srgbClr val="263238"/>
                </a:solidFill>
                <a:latin typeface="Arial"/>
              </a:rPr>
              <a:t>• A scalable, highly-available Node.js architecture that effectively bypasses urban gridlock to deliver immediate, contextualized medical intervention.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/>
            <a:r>
              <a:rPr sz="1400" b="0">
                <a:solidFill>
                  <a:srgbClr val="455A64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